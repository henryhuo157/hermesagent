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365760"/>
            <a:ext cx="5120640" cy="621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0" b="1" dirty="0">
                <a:solidFill>
                  <a:srgbClr val="2B31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</a:t>
            </a:r>
            <a:endParaRPr lang="en-US" sz="33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MAINPLAN 敏寶 · 採購部實戰手冊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1688 選品篩選工作冊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邊逛邊對照：初篩 · 評估 · 背調 · 詢價，一冊搞掂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E859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配合畢卡索 AI 使用 · 2026 年 10 月版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選品六步：從線索到打樣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764792" cy="3200400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1A233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5636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6E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2075688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找線索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2496312"/>
            <a:ext cx="1435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1688／淘寶／展會，照常你自己逛，眼光不可替代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" y="4087368"/>
            <a:ext cx="143560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4178808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E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03704" y="269748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D2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322576" y="1417320"/>
            <a:ext cx="1764792" cy="3200400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1A233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87168" y="15636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6E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87168" y="2075688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三分鐘初篩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87168" y="2496312"/>
            <a:ext cx="1435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五條硬性條件逐條打勾，過不了的直接跳過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87168" y="4087368"/>
            <a:ext cx="143560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4178808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E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9080" y="269748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D2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187952" y="1417320"/>
            <a:ext cx="1764792" cy="3200400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1A233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52544" y="15636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6E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352544" y="2075688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填評估卡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52544" y="2496312"/>
            <a:ext cx="1435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一個品一頁：價格、賣點、認證、風險寫齊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52544" y="4087368"/>
            <a:ext cx="143560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52544" y="4178808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E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 4·5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34456" y="269748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D2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053328" y="1417320"/>
            <a:ext cx="1764792" cy="3200400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1A233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15636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6E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217920" y="2075688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工廠背調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17920" y="2496312"/>
            <a:ext cx="1435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工廠還是貿易商？評分 ≥18 分才進詢價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4087368"/>
            <a:ext cx="143560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178808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E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 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99832" y="269748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D2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918704" y="1417320"/>
            <a:ext cx="1764792" cy="3200400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1A233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083296" y="15636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6E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083296" y="2075688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詢價對比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083296" y="2496312"/>
            <a:ext cx="1435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必問八條逐條問，多份報價上對比表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83296" y="4087368"/>
            <a:ext cx="143560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83296" y="4178808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E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 7·8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65208" y="269748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D2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784080" y="1417320"/>
            <a:ext cx="1764792" cy="3200400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22225">
            <a:solidFill>
              <a:srgbClr val="E8590C"/>
            </a:solidFill>
            <a:prstDash val="solid"/>
          </a:ln>
          <a:effectLst>
            <a:outerShdw sx="100000" sy="100000" kx="0" ky="0" algn="bl" rotWithShape="0" blurRad="88900" dist="25400" dir="2700000">
              <a:srgbClr val="1A2330">
                <a:alpha val="14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948672" y="15636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948672" y="2075688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打樣決策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948672" y="2496312"/>
            <a:ext cx="1435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打樣／試單／放棄，結論圈進評估卡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948672" y="4087368"/>
            <a:ext cx="143560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48672" y="4178808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 4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0" y="5074920"/>
            <a:ext cx="12188952" cy="411480"/>
          </a:xfrm>
          <a:prstGeom prst="rect">
            <a:avLst/>
          </a:prstGeom>
          <a:solidFill>
            <a:srgbClr val="EAF3F2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507492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51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每個候選品一張評估卡，月度選品會直接拿這本冊子過單；畢卡索 能代填的部分見頁 9。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02 · 三分鐘初篩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五條硬性條件，一條不過就跳過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91056"/>
            <a:ext cx="274320" cy="274320"/>
          </a:xfrm>
          <a:prstGeom prst="rect">
            <a:avLst/>
          </a:prstGeom>
          <a:solidFill>
            <a:srgbClr val="FFFFFF"/>
          </a:solidFill>
          <a:ln w="22225">
            <a:solidFill>
              <a:srgbClr val="1E6E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8132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目標客群匹配嗎？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60120" y="186537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我們做歐美廚具零售／批發，內銷雜貨款不跟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41448"/>
            <a:ext cx="274320" cy="274320"/>
          </a:xfrm>
          <a:prstGeom prst="rect">
            <a:avLst/>
          </a:prstGeom>
          <a:solidFill>
            <a:srgbClr val="FFFFFF"/>
          </a:solidFill>
          <a:ln w="22225">
            <a:solidFill>
              <a:srgbClr val="1E6E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317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毛利空間夠嗎？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60120" y="271576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1688 價 ≤ 推測零售價 × 25%（示例門檻，部門可調）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18104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91840"/>
            <a:ext cx="274320" cy="274320"/>
          </a:xfrm>
          <a:prstGeom prst="rect">
            <a:avLst/>
          </a:prstGeom>
          <a:solidFill>
            <a:srgbClr val="FFFFFF"/>
          </a:solidFill>
          <a:ln w="22225">
            <a:solidFill>
              <a:srgbClr val="1E6E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8211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起訂量扛得住嗎？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60120" y="356616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首單 ≤ 500 件，或支持混批／現貨代發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142232"/>
            <a:ext cx="274320" cy="274320"/>
          </a:xfrm>
          <a:prstGeom prst="rect">
            <a:avLst/>
          </a:prstGeom>
          <a:solidFill>
            <a:srgbClr val="FFFFFF"/>
          </a:solidFill>
          <a:ln w="22225">
            <a:solidFill>
              <a:srgbClr val="1E6E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3250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有差異化嗎？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60120" y="44165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比現有貨盤或市面大路貨多一個賣點：省空間／材質／使用場景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818888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992624"/>
            <a:ext cx="274320" cy="274320"/>
          </a:xfrm>
          <a:prstGeom prst="rect">
            <a:avLst/>
          </a:prstGeom>
          <a:solidFill>
            <a:srgbClr val="FFFFFF"/>
          </a:solidFill>
          <a:ln w="22225">
            <a:solidFill>
              <a:srgbClr val="1E6E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88289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侵權風險排查了嗎？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60120" y="526694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大牌外觀款、帶專利號的慎碰——先查再談，談不攏就放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EAF3F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98932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51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五格全打勾 → 進入評估卡（頁 4）；任何一格過不了 → 記下原因就跳過，不糾纏。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03 · 單品深評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選品評估卡（複製本頁，一個品一頁）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FAFCFC"/>
          </a:solidFill>
          <a:ln w="19050">
            <a:solidFill>
              <a:srgbClr val="1E6E6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2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產品截圖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2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貼這裡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596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正反面／細節圖可縮拼，帶上 1688 頁面連結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34840" y="1371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品名／型號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938528"/>
            <a:ext cx="3611880" cy="0"/>
          </a:xfrm>
          <a:prstGeom prst="line">
            <a:avLst/>
          </a:prstGeom>
          <a:noFill/>
          <a:ln w="12700">
            <a:solidFill>
              <a:srgbClr val="C7D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1371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材質／規格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938528"/>
            <a:ext cx="3611880" cy="0"/>
          </a:xfrm>
          <a:prstGeom prst="line">
            <a:avLst/>
          </a:prstGeom>
          <a:noFill/>
          <a:ln w="12700">
            <a:solidFill>
              <a:srgbClr val="C7D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1688 價格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761488"/>
            <a:ext cx="3611880" cy="0"/>
          </a:xfrm>
          <a:prstGeom prst="line">
            <a:avLst/>
          </a:prstGeom>
          <a:noFill/>
          <a:ln w="12700">
            <a:solidFill>
              <a:srgbClr val="C7D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推測零售價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2761488"/>
            <a:ext cx="3611880" cy="0"/>
          </a:xfrm>
          <a:prstGeom prst="line">
            <a:avLst/>
          </a:prstGeom>
          <a:noFill/>
          <a:ln w="12700">
            <a:solidFill>
              <a:srgbClr val="C7D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3017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毛利空間（對照 25% 門檻）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3584448"/>
            <a:ext cx="3611880" cy="0"/>
          </a:xfrm>
          <a:prstGeom prst="line">
            <a:avLst/>
          </a:prstGeom>
          <a:noFill/>
          <a:ln w="12700">
            <a:solidFill>
              <a:srgbClr val="C7D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017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MOQ／階梯價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3584448"/>
            <a:ext cx="3611880" cy="0"/>
          </a:xfrm>
          <a:prstGeom prst="line">
            <a:avLst/>
          </a:prstGeom>
          <a:noFill/>
          <a:ln w="12700">
            <a:solidFill>
              <a:srgbClr val="C7D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38404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4407408"/>
            <a:ext cx="3611880" cy="0"/>
          </a:xfrm>
          <a:prstGeom prst="line">
            <a:avLst/>
          </a:prstGeom>
          <a:noFill/>
          <a:ln w="12700">
            <a:solidFill>
              <a:srgbClr val="C7D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8404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差異化賣點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4407408"/>
            <a:ext cx="3611880" cy="0"/>
          </a:xfrm>
          <a:prstGeom prst="line">
            <a:avLst/>
          </a:prstGeom>
          <a:noFill/>
          <a:ln w="12700">
            <a:solidFill>
              <a:srgbClr val="C7D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4663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目標客群／渠道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5230368"/>
            <a:ext cx="3611880" cy="0"/>
          </a:xfrm>
          <a:prstGeom prst="line">
            <a:avLst/>
          </a:prstGeom>
          <a:noFill/>
          <a:ln w="12700">
            <a:solidFill>
              <a:srgbClr val="C7D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4663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認證要求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5230368"/>
            <a:ext cx="3611880" cy="0"/>
          </a:xfrm>
          <a:prstGeom prst="line">
            <a:avLst/>
          </a:prstGeom>
          <a:noFill/>
          <a:ln w="12700">
            <a:solidFill>
              <a:srgbClr val="C7D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5715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03520" y="571500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6E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57150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E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打樣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75120" y="571500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6E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57150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E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試單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46720" y="571500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7D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57150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555480" y="5715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圈選一項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03 · 單品深評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選品評估卡 · 填寫示範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052560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示範頁 · 數據為虛構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FAFCFC"/>
          </a:solidFill>
          <a:ln w="19050">
            <a:solidFill>
              <a:srgbClr val="1E6E6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2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截圖位置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2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（示範略）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5961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重點提醒：矽膠要「鉑金矽膠」，普通矽膠有異味退貨風險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34840" y="1371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品名／型號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34840" y="16276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摺疊式矽膠瀝水籃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975104"/>
            <a:ext cx="3611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371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材質／規格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16276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食品級矽膠＋PP 框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975104"/>
            <a:ext cx="3611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1688 價格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245059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¥18.5（1000 件價）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34840" y="2798064"/>
            <a:ext cx="3611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推測零售價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245059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HK$99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2798064"/>
            <a:ext cx="3611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3017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毛利空間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327355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進價佔 19% ✓（門檻 25%）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34840" y="3621024"/>
            <a:ext cx="3611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017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MOQ／階梯價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327355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300 件起，可混色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0" y="3621024"/>
            <a:ext cx="3611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38404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34840" y="40965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現貨 7 天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434840" y="4443984"/>
            <a:ext cx="3611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38404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差異化賣點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0965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摺疊後僅 3cm，省頭程運費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0" y="4443984"/>
            <a:ext cx="3611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4663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目標客群／渠道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34840" y="491947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露營／小廚房客群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434840" y="5266944"/>
            <a:ext cx="3611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4663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認證要求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491947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FDA＋LFGB 食品級測試報告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229600" y="5266944"/>
            <a:ext cx="3611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5715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303520" y="571500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0" y="57150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打樣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675120" y="571500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6E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57150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E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試單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046720" y="571500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7D2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0" y="57150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放棄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 · 工廠背調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供應商評分表：≥18 分才進詢價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233672"/>
                <a:gridCol w="7315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分長這樣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分長這樣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得分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成立年限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年以上，有出口記錄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新註冊，查無歷史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註冊資本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 萬人民幣以上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萬以下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主營匹配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主營就是這個品類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五金百貨什麼都做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外貿痕跡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官網＋展會＋出口數據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只有內銷 1688 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認證文件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能即時提供測試報告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「可以做的啦」說不出編號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09160"/>
            <a:ext cx="2697480" cy="475488"/>
          </a:xfrm>
          <a:prstGeom prst="roundRect">
            <a:avLst>
              <a:gd name="adj" fmla="val 46154"/>
            </a:avLst>
          </a:prstGeom>
          <a:solidFill>
            <a:srgbClr val="1E6E68"/>
          </a:solidFill>
          <a:ln w="19050">
            <a:solidFill>
              <a:srgbClr val="1E6E6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7091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≥18 進詢價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91840" y="4709160"/>
            <a:ext cx="2697480" cy="475488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9050">
            <a:solidFill>
              <a:srgbClr val="C7D2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91840" y="47091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12–17 先視頻／實地驗廠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4709160"/>
            <a:ext cx="2697480" cy="475488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19050">
            <a:solidFill>
              <a:srgbClr val="C7D2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47091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&lt;12 放棄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0" y="5440680"/>
            <a:ext cx="12188952" cy="594360"/>
          </a:xfrm>
          <a:prstGeom prst="rect">
            <a:avLst/>
          </a:prstGeom>
          <a:solidFill>
            <a:srgbClr val="EAF3F2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544068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51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定身份：經營範圍含「製造」＋工業區地址＝工廠；只寫「貿易」＋寫字樓＝貿易商。貿易商也能用，但價格與品質責任要多盯一層。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05 · 合規底線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廚具認證速查：問工廠要這些文件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480560"/>
                <a:gridCol w="395935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品類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主要市場認證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問工廠要的文件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食品接觸（鍋／杯／餐具）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歐盟 LFGB・1935/2004；美國 FDA；內銷 GB 4806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食品級材質證明＋第三方測試報告（1 年內有效）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小家電（空氣炸鍋等）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歐盟 CE＋RoHS；美國 ETL／UL；內銷 CCC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證書編號（官網可驗真）＋整機測試報告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刀具剪刀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歐盟 1935/2004＋目標國刀具有效標準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材質報告＋硬度／鋒利度測試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兒童餐具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食品級＋歐盟 EN 14372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重金屬遷移＋鄰苯二甲酸酯測試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5257800"/>
            <a:ext cx="12188952" cy="502920"/>
          </a:xfrm>
          <a:prstGeom prst="rect">
            <a:avLst/>
          </a:prstGeom>
          <a:solidFill>
            <a:srgbClr val="EAF3F2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52578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51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本頁是速查不是法律意見；進新市場先查當地法規。證書編號一定要上發證機構官網驗真，截图不算數。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05 · 詢價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詢價必問八條與紅旗信號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4173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材質證明與測試報告，能不能提供？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897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47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9476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車間實拍／視頻驗廠，現在就約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5897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780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47802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打樣週期與打樣費，可不可退？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35224"/>
            <a:ext cx="5897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0837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00837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MOQ 與階梯價：300／1000／3000 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65576"/>
            <a:ext cx="5897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387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5387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交期與旺季排產，最晚什麼時候能出？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95928"/>
            <a:ext cx="5897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69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069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驗貨標準：AQL 2.5？全檢？誰付費？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5897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994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59943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付款方式：30% 訂金＋見提單副本付尾款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056632"/>
            <a:ext cx="5897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1297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512978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包裝與嘜頭：能不能做我們的？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12280" y="1417320"/>
            <a:ext cx="4919472" cy="4206240"/>
          </a:xfrm>
          <a:prstGeom prst="roundRect">
            <a:avLst>
              <a:gd name="adj" fmla="val 2174"/>
            </a:avLst>
          </a:prstGeom>
          <a:solidFill>
            <a:srgbClr val="FDEEE3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紅旗信號：見一個，緩一緩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086600" y="2203704"/>
            <a:ext cx="146304" cy="146304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0" name="Text 28"/>
          <p:cNvSpPr/>
          <p:nvPr/>
        </p:nvSpPr>
        <p:spPr>
          <a:xfrm>
            <a:off x="736092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拒絕視頻驗廠，只肯發照片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086600" y="2862072"/>
            <a:ext cx="146304" cy="146304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2" name="Text 30"/>
          <p:cNvSpPr/>
          <p:nvPr/>
        </p:nvSpPr>
        <p:spPr>
          <a:xfrm>
            <a:off x="7360920" y="28072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報價明顯低於行情 30% 以上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086600" y="3520440"/>
            <a:ext cx="146304" cy="146304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4" name="Text 32"/>
          <p:cNvSpPr/>
          <p:nvPr/>
        </p:nvSpPr>
        <p:spPr>
          <a:xfrm>
            <a:off x="7360920" y="34655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只收全款，或走私人帳戶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086600" y="4178808"/>
            <a:ext cx="146304" cy="146304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6" name="Text 34"/>
          <p:cNvSpPr/>
          <p:nvPr/>
        </p:nvSpPr>
        <p:spPr>
          <a:xfrm>
            <a:off x="7360920" y="4123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說不出測試報告編號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086600" y="4837176"/>
            <a:ext cx="146304" cy="146304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8" name="Text 36"/>
          <p:cNvSpPr/>
          <p:nvPr/>
        </p:nvSpPr>
        <p:spPr>
          <a:xfrm>
            <a:off x="7360920" y="4782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一味催單催款，避談品質細節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5943600"/>
            <a:ext cx="12188952" cy="845820"/>
          </a:xfrm>
          <a:prstGeom prst="rect">
            <a:avLst/>
          </a:prstGeom>
          <a:solidFill>
            <a:srgbClr val="EAF3F2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5943600"/>
            <a:ext cx="1127455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51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工廠的每條回覆記進評估卡背面——談判時有據可依，換供應商時有檔可查。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配合畢卡索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髒活交給畢卡索，你只做判斷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EAF3F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1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「我想找新品」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30368" y="13716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06440" y="140817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採購經理提問模式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06440" y="17556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不知道從哪開始？它一題一題問你，帶你走完整個選品流程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EAF3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6771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1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「評估這個新品」（截圖拖進對話）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30368" y="2267712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06440" y="230428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選品評估卡初稿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06440" y="2651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賣點、售價區間、認證清單、風險、要問工廠的問題，一次列全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EAF3F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6382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1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「查一下這家工廠的底細」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0368" y="3163824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06440" y="320040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工廠背調卡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06440" y="35478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工廠還是貿易商＋風險記錄＋針對性驗廠提問清單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59936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EAF3F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5993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1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「這幾份報價幫我對比」（拖文件）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0368" y="4059936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06440" y="409651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統一對比表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06440" y="44439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單價／貨期／條款橫向對齊，最低價高亮，幣種自動折算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956048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EAF3F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95604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1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「1,000 美元換港幣是多少」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30368" y="495604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06440" y="499262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匯率速算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06440" y="534009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當日中間價，帶來源；整張價格表也能批量換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943600"/>
            <a:ext cx="12188952" cy="845820"/>
          </a:xfrm>
          <a:prstGeom prst="rect">
            <a:avLst/>
          </a:prstGeom>
          <a:solidFill>
            <a:srgbClr val="EAF3F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943600"/>
            <a:ext cx="1127455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51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 47.243.79.144 或飛書喊它；輸出的是可下載文件，直接歸檔進這本冊子對應的頁。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貨比三家，先比這一冊。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6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每個候選品一頁卡；月度選品會，用冊子過單。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38100">
            <a:solidFill>
              <a:srgbClr val="E859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315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畢卡索 · 敏寶團隊 AI　|　網頁 47.243.79.144　|　飛書搜 HarmesAgent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1688 選品篩選工作冊</dc:title>
  <dc:subject>PptxGenJS Presentation</dc:subject>
  <dc:creator>Picasso · Mainplan</dc:creator>
  <cp:lastModifiedBy>Picasso · Mainplan</cp:lastModifiedBy>
  <cp:revision>1</cp:revision>
  <dcterms:created xsi:type="dcterms:W3CDTF">2026-10-05T02:28:40Z</dcterms:created>
  <dcterms:modified xsi:type="dcterms:W3CDTF">2026-10-05T02:28:40Z</dcterms:modified>
</cp:coreProperties>
</file>